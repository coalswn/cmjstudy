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"/>
  </p:notes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0" y="18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7578C-4067-414B-A663-5B83E35B2717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29E7E-CBD4-4CB0-85F9-00B9C47E89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234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4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072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407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10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254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594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46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447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707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5544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667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9F855-0080-4DEF-A343-53CC01D1B06E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704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9835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34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713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79F855-0080-4DEF-A343-53CC01D1B06E}" type="datetimeFigureOut">
              <a:rPr lang="ko-KR" altLang="en-US" smtClean="0"/>
              <a:t>2025-12-13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8DA266-4242-4D55-87DD-64CCCD5C5A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95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Introduction: 1-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24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000A3"/>
          </a:solidFill>
          <a:latin typeface="+mn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HW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2025/12/15</a:t>
            </a:r>
            <a:r>
              <a:rPr lang="ko-KR" altLang="en-US" dirty="0"/>
              <a:t>일 까지</a:t>
            </a:r>
          </a:p>
        </p:txBody>
      </p:sp>
    </p:spTree>
    <p:extLst>
      <p:ext uri="{BB962C8B-B14F-4D97-AF65-F5344CB8AC3E}">
        <p14:creationId xmlns:p14="http://schemas.microsoft.com/office/powerpoint/2010/main" val="3015002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222"/>
            <a:ext cx="10515600" cy="894622"/>
          </a:xfrm>
        </p:spPr>
        <p:txBody>
          <a:bodyPr>
            <a:normAutofit/>
          </a:bodyPr>
          <a:lstStyle/>
          <a:p>
            <a:r>
              <a:rPr lang="ko-KR" altLang="en-US" dirty="0"/>
              <a:t>패킷</a:t>
            </a:r>
            <a:r>
              <a:rPr lang="en-US" altLang="ja-JP" dirty="0"/>
              <a:t> </a:t>
            </a:r>
            <a:r>
              <a:rPr lang="ko-KR" altLang="en-US" dirty="0" err="1"/>
              <a:t>스위칭과</a:t>
            </a:r>
            <a:r>
              <a:rPr lang="ko-KR" altLang="en-US" dirty="0"/>
              <a:t> 회선 교환 비교</a:t>
            </a:r>
            <a:endParaRPr lang="en-US" dirty="0"/>
          </a:p>
        </p:txBody>
      </p:sp>
      <p:sp>
        <p:nvSpPr>
          <p:cNvPr id="189" name="Rectangle 3">
            <a:extLst>
              <a:ext uri="{FF2B5EF4-FFF2-40B4-BE49-F238E27FC236}">
                <a16:creationId xmlns:a16="http://schemas.microsoft.com/office/drawing/2014/main" id="{17C01842-A8D9-3947-BFAD-E29BD4964F34}"/>
              </a:ext>
            </a:extLst>
          </p:cNvPr>
          <p:cNvSpPr txBox="1">
            <a:spLocks noChangeArrowheads="1"/>
          </p:cNvSpPr>
          <p:nvPr/>
        </p:nvSpPr>
        <p:spPr>
          <a:xfrm>
            <a:off x="1798051" y="1331088"/>
            <a:ext cx="4938590" cy="19381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75000"/>
              <a:buFont typeface="Wingdings" pitchFamily="2" charset="2"/>
              <a:buNone/>
              <a:tabLst>
                <a:tab pos="566738" algn="l"/>
              </a:tabLst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예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 Gb/s link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각 사용자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</a:t>
            </a:r>
          </a:p>
          <a:p>
            <a:pPr marL="514350" marR="0" lvl="1" indent="-217488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Tx/>
              <a:buChar char="•"/>
              <a:tabLst>
                <a:tab pos="566738" algn="l"/>
              </a:tabLst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활성화 </a:t>
            </a:r>
            <a:r>
              <a:rPr lang="ko-KR" altLang="en-US" sz="2000" dirty="0">
                <a:solidFill>
                  <a:prstClr val="black"/>
                </a:solidFill>
                <a:latin typeface="Calibri" panose="020F0502020204030204"/>
                <a:ea typeface="Arial" panose="020B0604020202020204" pitchFamily="34" charset="0"/>
              </a:rPr>
              <a:t>시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100 Mb/s </a:t>
            </a:r>
            <a:endParaRPr kumimoji="0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514350" marR="0" lvl="1" indent="-217488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Tx/>
              <a:buChar char="•"/>
              <a:tabLst>
                <a:tab pos="566738" algn="l"/>
              </a:tabLst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전체 시간의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 10%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활성화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rial" panose="020B0604020202020204" pitchFamily="34" charset="0"/>
              <a:cs typeface="+mn-cs"/>
            </a:endParaRPr>
          </a:p>
          <a:p>
            <a:pPr marL="566738" marR="0" lvl="1" indent="-2190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>
                <a:tab pos="566738" algn="l"/>
              </a:tabLst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rial" panose="020B0604020202020204" pitchFamily="34" charset="0"/>
              <a:cs typeface="+mn-cs"/>
            </a:endParaRP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Rectangle 4">
            <a:extLst>
              <a:ext uri="{FF2B5EF4-FFF2-40B4-BE49-F238E27FC236}">
                <a16:creationId xmlns:a16="http://schemas.microsoft.com/office/drawing/2014/main" id="{7C386600-7D5F-2A48-8322-A74286FEE874}"/>
              </a:ext>
            </a:extLst>
          </p:cNvPr>
          <p:cNvSpPr txBox="1">
            <a:spLocks noChangeArrowheads="1"/>
          </p:cNvSpPr>
          <p:nvPr/>
        </p:nvSpPr>
        <p:spPr>
          <a:xfrm>
            <a:off x="770020" y="3313964"/>
            <a:ext cx="11085095" cy="609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buNone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 </a:t>
            </a:r>
            <a:r>
              <a:rPr lang="ko-KR" altLang="en-US" sz="20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회선 교환 방식과 패킷 교환 방식 각각에서 얼마나 많은 사용자가 이 네트워크를 사용할 수 있는가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CB3388-63D6-E94D-A6AC-103823FF44D9}"/>
              </a:ext>
            </a:extLst>
          </p:cNvPr>
          <p:cNvGrpSpPr/>
          <p:nvPr/>
        </p:nvGrpSpPr>
        <p:grpSpPr>
          <a:xfrm>
            <a:off x="5274718" y="1427105"/>
            <a:ext cx="4284372" cy="1665011"/>
            <a:chOff x="6463839" y="2201136"/>
            <a:chExt cx="5112300" cy="2005013"/>
          </a:xfrm>
        </p:grpSpPr>
        <p:sp>
          <p:nvSpPr>
            <p:cNvPr id="191" name="Line 15">
              <a:extLst>
                <a:ext uri="{FF2B5EF4-FFF2-40B4-BE49-F238E27FC236}">
                  <a16:creationId xmlns:a16="http://schemas.microsoft.com/office/drawing/2014/main" id="{8D3CAF60-F994-A546-AAAD-47571FD48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7264" y="2684966"/>
              <a:ext cx="838200" cy="45720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2" name="Line 16">
              <a:extLst>
                <a:ext uri="{FF2B5EF4-FFF2-40B4-BE49-F238E27FC236}">
                  <a16:creationId xmlns:a16="http://schemas.microsoft.com/office/drawing/2014/main" id="{DAFDB301-9C22-7E40-AB5C-B1019D11D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7887" y="3142166"/>
              <a:ext cx="2038350" cy="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3" name="Line 17">
              <a:extLst>
                <a:ext uri="{FF2B5EF4-FFF2-40B4-BE49-F238E27FC236}">
                  <a16:creationId xmlns:a16="http://schemas.microsoft.com/office/drawing/2014/main" id="{08D96691-67D0-164A-8B20-0A8F49D82B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27887" y="3317507"/>
              <a:ext cx="2038350" cy="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4" name="Line 18">
              <a:extLst>
                <a:ext uri="{FF2B5EF4-FFF2-40B4-BE49-F238E27FC236}">
                  <a16:creationId xmlns:a16="http://schemas.microsoft.com/office/drawing/2014/main" id="{5E60CA0C-29AD-554D-BDE3-8F41053E47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3464" y="3317507"/>
              <a:ext cx="761999" cy="60959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5" name="Text Box 19">
              <a:extLst>
                <a:ext uri="{FF2B5EF4-FFF2-40B4-BE49-F238E27FC236}">
                  <a16:creationId xmlns:a16="http://schemas.microsoft.com/office/drawing/2014/main" id="{4727766D-8865-024A-9422-01733ADE9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79492" y="2909443"/>
              <a:ext cx="876970" cy="6819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</a:t>
              </a: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users</a:t>
              </a:r>
            </a:p>
          </p:txBody>
        </p:sp>
        <p:sp>
          <p:nvSpPr>
            <p:cNvPr id="196" name="Text Box 20">
              <a:extLst>
                <a:ext uri="{FF2B5EF4-FFF2-40B4-BE49-F238E27FC236}">
                  <a16:creationId xmlns:a16="http://schemas.microsoft.com/office/drawing/2014/main" id="{02F193D8-1895-D243-9C9D-86059DDF40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5005" y="3251831"/>
              <a:ext cx="13311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 Gbps link</a:t>
              </a:r>
            </a:p>
          </p:txBody>
        </p:sp>
        <p:sp>
          <p:nvSpPr>
            <p:cNvPr id="197" name="Line 47">
              <a:extLst>
                <a:ext uri="{FF2B5EF4-FFF2-40B4-BE49-F238E27FC236}">
                  <a16:creationId xmlns:a16="http://schemas.microsoft.com/office/drawing/2014/main" id="{562BF16C-2907-8C4D-B28F-D8B95C2C2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08639" y="3234599"/>
              <a:ext cx="1409700" cy="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1" name="Text Box 34">
              <a:extLst>
                <a:ext uri="{FF2B5EF4-FFF2-40B4-BE49-F238E27FC236}">
                  <a16:creationId xmlns:a16="http://schemas.microsoft.com/office/drawing/2014/main" id="{C6727030-4F85-B845-B014-77B365B7F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273514">
              <a:off x="6621034" y="2903648"/>
              <a:ext cx="736600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…..</a:t>
              </a:r>
            </a:p>
          </p:txBody>
        </p:sp>
        <p:grpSp>
          <p:nvGrpSpPr>
            <p:cNvPr id="202" name="Group 37">
              <a:extLst>
                <a:ext uri="{FF2B5EF4-FFF2-40B4-BE49-F238E27FC236}">
                  <a16:creationId xmlns:a16="http://schemas.microsoft.com/office/drawing/2014/main" id="{FC6117E2-B5D0-3248-96A0-171CEAC333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63839" y="2201136"/>
              <a:ext cx="779462" cy="679450"/>
              <a:chOff x="-44" y="1473"/>
              <a:chExt cx="981" cy="1105"/>
            </a:xfrm>
          </p:grpSpPr>
          <p:pic>
            <p:nvPicPr>
              <p:cNvPr id="203" name="Picture 38" descr="desktop_computer_stylized_medium">
                <a:extLst>
                  <a:ext uri="{FF2B5EF4-FFF2-40B4-BE49-F238E27FC236}">
                    <a16:creationId xmlns:a16="http://schemas.microsoft.com/office/drawing/2014/main" id="{02935161-CCBE-2A48-BC18-CA296B2587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4" name="Freeform 39">
                <a:extLst>
                  <a:ext uri="{FF2B5EF4-FFF2-40B4-BE49-F238E27FC236}">
                    <a16:creationId xmlns:a16="http://schemas.microsoft.com/office/drawing/2014/main" id="{5B7E3C12-D98B-2E49-A821-F85CB5D7880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5" name="Group 40">
              <a:extLst>
                <a:ext uri="{FF2B5EF4-FFF2-40B4-BE49-F238E27FC236}">
                  <a16:creationId xmlns:a16="http://schemas.microsoft.com/office/drawing/2014/main" id="{0E3BE850-C184-E14C-9842-3CBC3C7E17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68601" y="3526699"/>
              <a:ext cx="779463" cy="679450"/>
              <a:chOff x="-44" y="1473"/>
              <a:chExt cx="981" cy="1105"/>
            </a:xfrm>
          </p:grpSpPr>
          <p:pic>
            <p:nvPicPr>
              <p:cNvPr id="206" name="Picture 41" descr="desktop_computer_stylized_medium">
                <a:extLst>
                  <a:ext uri="{FF2B5EF4-FFF2-40B4-BE49-F238E27FC236}">
                    <a16:creationId xmlns:a16="http://schemas.microsoft.com/office/drawing/2014/main" id="{34A00C7E-9612-B241-9898-B49B514E66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" name="Freeform 42">
                <a:extLst>
                  <a:ext uri="{FF2B5EF4-FFF2-40B4-BE49-F238E27FC236}">
                    <a16:creationId xmlns:a16="http://schemas.microsoft.com/office/drawing/2014/main" id="{02AA78CC-14BC-8743-BD3C-4017C62F7EA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4B3A0818-19B8-9E49-8541-BB1E767B23AC}"/>
                </a:ext>
              </a:extLst>
            </p:cNvPr>
            <p:cNvGrpSpPr/>
            <p:nvPr/>
          </p:nvGrpSpPr>
          <p:grpSpPr>
            <a:xfrm>
              <a:off x="8273141" y="2958864"/>
              <a:ext cx="1158784" cy="572412"/>
              <a:chOff x="7493876" y="2774731"/>
              <a:chExt cx="1481958" cy="894622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CF8F931D-76DE-FE49-9C97-0EB9F8B3CE95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9BACE013-EB36-8F4C-858D-8A49A2D9AB1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CAA52B1D-D65D-CA48-9107-33F16F5843B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3" name="Freeform 212">
                  <a:extLst>
                    <a:ext uri="{FF2B5EF4-FFF2-40B4-BE49-F238E27FC236}">
                      <a16:creationId xmlns:a16="http://schemas.microsoft.com/office/drawing/2014/main" id="{AA4C5BCE-82B8-0048-8448-58CACF31A5B8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Freeform 213">
                  <a:extLst>
                    <a:ext uri="{FF2B5EF4-FFF2-40B4-BE49-F238E27FC236}">
                      <a16:creationId xmlns:a16="http://schemas.microsoft.com/office/drawing/2014/main" id="{58CE4538-1F7C-F447-B65D-F903F168741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Freeform 214">
                  <a:extLst>
                    <a:ext uri="{FF2B5EF4-FFF2-40B4-BE49-F238E27FC236}">
                      <a16:creationId xmlns:a16="http://schemas.microsoft.com/office/drawing/2014/main" id="{BD10D606-81D5-2A4F-98EC-DD366D0D485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6" name="Freeform 215">
                  <a:extLst>
                    <a:ext uri="{FF2B5EF4-FFF2-40B4-BE49-F238E27FC236}">
                      <a16:creationId xmlns:a16="http://schemas.microsoft.com/office/drawing/2014/main" id="{91356B23-1026-5749-BCDE-A884E53177D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2" name="Rectangle 3">
            <a:extLst>
              <a:ext uri="{FF2B5EF4-FFF2-40B4-BE49-F238E27FC236}">
                <a16:creationId xmlns:a16="http://schemas.microsoft.com/office/drawing/2014/main" id="{8C03B010-69E6-1B42-A828-F93C63189906}"/>
              </a:ext>
            </a:extLst>
          </p:cNvPr>
          <p:cNvSpPr txBox="1">
            <a:spLocks noChangeArrowheads="1"/>
          </p:cNvSpPr>
          <p:nvPr/>
        </p:nvSpPr>
        <p:spPr>
          <a:xfrm>
            <a:off x="908221" y="3603662"/>
            <a:ext cx="4938590" cy="964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738" marR="0" lvl="1" indent="-2190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>
                <a:tab pos="566738" algn="l"/>
              </a:tabLst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Arial" panose="020B0604020202020204" pitchFamily="34" charset="0"/>
              <a:cs typeface="+mn-cs"/>
            </a:endParaRP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r>
              <a:rPr kumimoji="0" lang="ko-KR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회선 교환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10 users</a:t>
            </a:r>
          </a:p>
          <a:p>
            <a:pPr marL="231775" marR="0" lvl="0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>
                <a:tab pos="566738" algn="l"/>
              </a:tabLst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5DB36C-372C-7849-A383-A0D110333457}"/>
              </a:ext>
            </a:extLst>
          </p:cNvPr>
          <p:cNvGrpSpPr/>
          <p:nvPr/>
        </p:nvGrpSpPr>
        <p:grpSpPr>
          <a:xfrm>
            <a:off x="914111" y="4198445"/>
            <a:ext cx="10461028" cy="2164114"/>
            <a:chOff x="949766" y="3703137"/>
            <a:chExt cx="10461028" cy="2164114"/>
          </a:xfrm>
        </p:grpSpPr>
        <p:grpSp>
          <p:nvGrpSpPr>
            <p:cNvPr id="198" name="Group 35">
              <a:extLst>
                <a:ext uri="{FF2B5EF4-FFF2-40B4-BE49-F238E27FC236}">
                  <a16:creationId xmlns:a16="http://schemas.microsoft.com/office/drawing/2014/main" id="{A49C0A36-CC03-E845-B104-1E5E28C28B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19664" y="4101096"/>
              <a:ext cx="5191130" cy="989012"/>
              <a:chOff x="2915" y="2642"/>
              <a:chExt cx="3270" cy="623"/>
            </a:xfrm>
          </p:grpSpPr>
          <p:sp>
            <p:nvSpPr>
              <p:cNvPr id="199" name="Text Box 48">
                <a:extLst>
                  <a:ext uri="{FF2B5EF4-FFF2-40B4-BE49-F238E27FC236}">
                    <a16:creationId xmlns:a16="http://schemas.microsoft.com/office/drawing/2014/main" id="{9E10FA5A-2003-7947-A8C2-B7FD6785FC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15" y="2642"/>
                <a:ext cx="327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Q:</a:t>
                </a: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 </a:t>
                </a:r>
                <a:r>
                  <a:rPr kumimoji="0" lang="en-US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0.0004</a:t>
                </a:r>
                <a:r>
                  <a:rPr kumimoji="0" lang="ko-KR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라는 값을 어떻게 얻었는가</a:t>
                </a:r>
                <a:r>
                  <a:rPr kumimoji="0" lang="en-US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?</a:t>
                </a:r>
              </a:p>
            </p:txBody>
          </p:sp>
          <p:sp>
            <p:nvSpPr>
              <p:cNvPr id="200" name="Text Box 48">
                <a:extLst>
                  <a:ext uri="{FF2B5EF4-FFF2-40B4-BE49-F238E27FC236}">
                    <a16:creationId xmlns:a16="http://schemas.microsoft.com/office/drawing/2014/main" id="{8EB381AD-3137-AD48-AB59-379F215355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30" y="2935"/>
                <a:ext cx="2986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A:</a:t>
                </a: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 </a:t>
                </a:r>
                <a:r>
                  <a:rPr kumimoji="0" lang="ko-KR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숙제</a:t>
                </a:r>
                <a:endPara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0E79ECB0-50CE-C240-AF72-D00F85143460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49766" y="3703137"/>
              <a:ext cx="4938590" cy="216411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566738" marR="0" lvl="1" indent="-219075" algn="l" defTabSz="914400" rtl="0" eaLnBrk="1" fontAlgn="auto" latinLnBrk="0" hangingPunct="1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Tx/>
                <a:buFont typeface="Arial" panose="020B0604020202020204" pitchFamily="34" charset="0"/>
                <a:buChar char="•"/>
                <a:tabLst>
                  <a:tab pos="566738" algn="l"/>
                </a:tabLst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endParaRPr>
            </a:p>
            <a:p>
              <a:pPr marL="231775" marR="0" lvl="0" indent="-231775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>
                  <a:tab pos="566738" algn="l"/>
                </a:tabLst>
                <a:defRPr/>
              </a:pPr>
              <a:r>
                <a:rPr kumimoji="0" lang="ko-KR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패킷 스위칭</a:t>
              </a:r>
              <a:r>
                <a:rPr kumimoji="0" lang="en-US" altLang="en-US" sz="28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: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 35 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명의 사용자가 사용 시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, 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동시</a:t>
              </a:r>
              <a:r>
                <a:rPr kumimoji="0" lang="ko-KR" altLang="en-US" sz="2400" b="0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 사용자가 </a:t>
              </a:r>
              <a:r>
                <a:rPr kumimoji="0" lang="en-US" altLang="ko-KR" sz="2400" b="0" i="0" u="none" strike="noStrike" kern="120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10</a:t>
              </a:r>
              <a:r>
                <a:rPr lang="ko-KR" altLang="en-US" sz="2400" dirty="0">
                  <a:solidFill>
                    <a:prstClr val="black"/>
                  </a:solidFill>
                  <a:latin typeface="Calibri" panose="020F0502020204030204"/>
                  <a:ea typeface="Arial" panose="020B0604020202020204" pitchFamily="34" charset="0"/>
                </a:rPr>
                <a:t>명 보다 많을 확률은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.0004 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보다 작다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Arial" panose="020B0604020202020204" pitchFamily="34" charset="0"/>
                  <a:cs typeface="+mn-cs"/>
                </a:rPr>
                <a:t> *</a:t>
              </a:r>
            </a:p>
            <a:p>
              <a:pPr marL="231775" marR="0" lvl="0" indent="-231775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Char char="§"/>
                <a:tabLst>
                  <a:tab pos="566738" algn="l"/>
                </a:tabLst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541D33C7-A4DC-934F-8A9A-8D848D2D5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Introduction: 1-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905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111D7D4-EF78-8181-8845-D81DAE5F745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556054"/>
                <a:ext cx="10727724" cy="5620909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ko-KR" altLang="en-US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ko-KR" altLang="en-US" sz="2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동시에 활성</a:t>
                </a:r>
                <a:r>
                  <a:rPr lang="en-US" altLang="ko-KR" sz="2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(active) </a:t>
                </a:r>
                <a:r>
                  <a:rPr lang="ko-KR" altLang="en-US" sz="24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상태인 사용자 수의 확률 분포</a:t>
                </a:r>
                <a:r>
                  <a:rPr lang="ko-KR" altLang="en-US" sz="24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계산 </a:t>
                </a:r>
                <a:endParaRPr lang="en-US" altLang="ko-KR" sz="24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2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11</a:t>
                </a:r>
                <a:r>
                  <a:rPr lang="ko-KR" altLang="en-US" sz="2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명 이상이면 링크가 과부하</a:t>
                </a:r>
                <a:endPara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2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이항 분포식으로 계산</a:t>
                </a:r>
                <a:endParaRPr lang="en-US" altLang="ko-KR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ko-KR" sz="1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endParaRPr lang="en-US" altLang="ko-KR" sz="18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/>
                  <a:t>동시에 활성인 사용자 수를 확률변수 </a:t>
                </a:r>
                <a14:m>
                  <m:oMath xmlns:m="http://schemas.openxmlformats.org/officeDocument/2006/math">
                    <m:r>
                      <a:rPr lang="ko-KR" altLang="en-US" sz="1600" i="1"/>
                      <m:t>𝑋</m:t>
                    </m:r>
                  </m:oMath>
                </a14:m>
                <a:endPara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/>
                  <a:t>이항분포 꼬리확률을 계산하면  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P(X&gt;10)≈3.7×10</a:t>
                </a:r>
                <a:r>
                  <a:rPr lang="en-US" altLang="ko-KR" sz="1600" baseline="30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−4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P(X&gt;10)≈0.00037&lt;0.0004 = </a:t>
                </a:r>
                <a:r>
                  <a:rPr lang="ko-KR" altLang="en-US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동시 사용자가 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10</a:t>
                </a:r>
                <a:r>
                  <a:rPr lang="ko-KR" altLang="en-US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명보다 많을 확률은 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0.0004</a:t>
                </a:r>
                <a:r>
                  <a:rPr lang="ko-KR" altLang="en-US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보다 작다</a:t>
                </a:r>
                <a:endPara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lvl="2">
                  <a:lnSpc>
                    <a:spcPct val="150000"/>
                  </a:lnSpc>
                </a:pPr>
                <a:r>
                  <a:rPr lang="ko-KR" altLang="en-US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평균 활성 사용자 수는 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3.5 </a:t>
                </a:r>
                <a:r>
                  <a:rPr lang="ko-KR" altLang="en-US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명으로 허용 한계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(10</a:t>
                </a:r>
                <a:r>
                  <a:rPr lang="ko-KR" altLang="en-US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명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)</a:t>
                </a:r>
                <a:r>
                  <a:rPr lang="ko-KR" altLang="en-US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보다 훨씬 낮아서  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11</a:t>
                </a:r>
                <a:r>
                  <a:rPr lang="ko-KR" altLang="en-US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명 이상이 동시에 활성일 확률은 매우 작음</a:t>
                </a:r>
                <a:endParaRPr lang="en-US" altLang="ko-KR" sz="16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ko-KR" altLang="en-US" sz="2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결론</a:t>
                </a:r>
                <a:r>
                  <a:rPr lang="en-US" altLang="ko-KR" sz="2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: </a:t>
                </a:r>
                <a:r>
                  <a:rPr lang="ko-KR" altLang="en-US" sz="2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사용자들이 항상 쓰는 게 아니니까</a:t>
                </a:r>
                <a:r>
                  <a:rPr lang="en-US" altLang="ko-KR" sz="2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 </a:t>
                </a:r>
                <a:r>
                  <a:rPr lang="ko-KR" altLang="en-US" sz="2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확률적으로 보면 </a:t>
                </a:r>
                <a:r>
                  <a:rPr lang="en-US" altLang="ko-KR" sz="2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35</a:t>
                </a:r>
                <a:r>
                  <a:rPr lang="ko-KR" altLang="en-US" sz="2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명도 충분히 감당 가능해서 패킷 교환이 효율적이고</a:t>
                </a:r>
                <a:r>
                  <a:rPr lang="en-US" altLang="ko-KR" sz="2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 </a:t>
                </a:r>
                <a:r>
                  <a:rPr lang="ko-KR" altLang="en-US" sz="2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가끔 한계 넘으면 그때 지연이나 패킷 드랍이 생긴다</a:t>
                </a:r>
                <a:r>
                  <a:rPr lang="en-US" altLang="ko-KR" sz="20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.</a:t>
                </a:r>
                <a:endParaRPr lang="ko-KR" altLang="en-US" sz="20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111D7D4-EF78-8181-8845-D81DAE5F7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556054"/>
                <a:ext cx="10727724" cy="562090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C3504F-BBA3-FF7A-293B-9F924D2FB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그림 6" descr="폰트, 텍스트, 화이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94882F-7479-F668-2CFD-06C4103AF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366" y="2450061"/>
            <a:ext cx="3562847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049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208</Words>
  <Application>Microsoft Office PowerPoint</Application>
  <PresentationFormat>와이드스크린</PresentationFormat>
  <Paragraphs>34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ＭＳ Ｐゴシック</vt:lpstr>
      <vt:lpstr>Pretendard</vt:lpstr>
      <vt:lpstr>맑은 고딕</vt:lpstr>
      <vt:lpstr>Arial</vt:lpstr>
      <vt:lpstr>Calibri</vt:lpstr>
      <vt:lpstr>Wingdings</vt:lpstr>
      <vt:lpstr>Office 테마</vt:lpstr>
      <vt:lpstr>Office Theme</vt:lpstr>
      <vt:lpstr>HW</vt:lpstr>
      <vt:lpstr>패킷 스위칭과 회선 교환 비교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</dc:title>
  <dc:creator>admin</dc:creator>
  <cp:lastModifiedBy>minju Chae</cp:lastModifiedBy>
  <cp:revision>7</cp:revision>
  <dcterms:created xsi:type="dcterms:W3CDTF">2025-12-12T02:45:32Z</dcterms:created>
  <dcterms:modified xsi:type="dcterms:W3CDTF">2025-12-13T12:45:25Z</dcterms:modified>
</cp:coreProperties>
</file>